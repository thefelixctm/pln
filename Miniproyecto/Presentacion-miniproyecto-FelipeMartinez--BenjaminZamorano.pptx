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3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28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objetivo: explicar qué problema NLP se resolvió, qué mostró el EDA, cómo rindió el baseline, cómo se comparó BETO y qué recomendaríamos para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claramente las clases. Aclarar que el test oficial no trae etiquetas, por eso se usa dev como conjunto evaluable para comparar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F1 macro penaliza el mal desempeño en POS. Esta es la razón de usar class_weight balanced en el baseline y un modelo contextual en la comparación.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el ejemplo difícil para cumplir la rúbrica. No leer ejemplos ofensivos completos; explicar el fenómeno: vocabulario sensible no equivale automáticamente a hostilidad.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baseline es fuerte para NEU, razonable para NEG y muy débil para POS. Eso anticipa la necesidad de un modelo con contexto y/o re-balanceo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es importante porque la rúbrica exige ejemplos correctos de error. Mencionar los dos patrones y no perderse en casos aislados.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por qué no basta con TF-IDF: los errores detectados requieren modelar contexto. También aclarar que se usó fine-tuning, no zero-shot.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responder directamente la duda del profesor si pregunta por max_length. Decir: 128 era una decisión computacional; 262 es una decisión derivada de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vender el resultado como espectacular. La mejora existe, pero es moderada. Eso muestra criterio técnico y evita sobreprometer.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una postura clara: recomendar BETO con cautela, y afirmar que el sistema necesita más datos y evaluación antes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28816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6565392"/>
            <a:ext cx="5394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08 · Procesamiento de Lenguaje Natural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09560" y="6565392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HOMO-LAT25 · Clasificación multiclase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28C28"/>
                </a:solidFill>
              </a:rPr>
              <a:t>Miniproyecto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26364" y="1313975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</a:rPr>
              <a:t>Clasificación de polaridad en HOMO-LAT25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79502" y="221811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4F0"/>
                </a:solidFill>
              </a:rPr>
              <a:t>EDA · Baseline TF-IDF · Análisis de errores · Fine-tuning BETO · Evaluación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6364" y="34290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102E55"/>
          </a:solidFill>
          <a:ln w="12700">
            <a:solidFill>
              <a:srgbClr val="305D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53603" y="35094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8C28"/>
                </a:solidFill>
              </a:rPr>
              <a:t>Integrantes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3603" y="390250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Felipe Martinez. 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Benjamín Zamorano.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56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A9A"/>
                </a:solidFill>
              </a:rPr>
              <a:t>SECCIÓN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57784"/>
            <a:ext cx="10789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Definición de la tarea NLP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A6675"/>
                </a:solidFill>
              </a:rPr>
              <a:t>Clasificación multiclase de publicaciones en español latinoamericano.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68680" y="1581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8A9A"/>
                </a:solidFill>
              </a:rPr>
              <a:t>3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86968" y="199339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Etiquetas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331720" y="14173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423160" y="1581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</a:rPr>
              <a:t>5.767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41448" y="199339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Train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886200" y="14173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977640" y="1581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</a:rPr>
              <a:t>1.443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995928" y="199339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Dev evaluable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5440680" y="14173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532120" y="1581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8C28"/>
                </a:solidFill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550408" y="199339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Países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777240" y="2761488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Problema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73552"/>
            <a:ext cx="2834640" cy="1737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Dado un texto de redes sociales, asignar una clase: NEG, NEU o POS. La evaluación usa F1 macro porque todas las clases deben importar, no solo la mayoritaria.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251960" y="2761488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434840" y="29260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Dificultad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3273552"/>
            <a:ext cx="2834640" cy="1737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El corpus contiene jerga, dialectalismos, ironía, términos sensibles, ruido de internet y fuerte desbalance hacia NEU. POS es especialmente minoritaria.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726680" y="2761488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7909560" y="29260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Por qué importa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09560" y="3273552"/>
            <a:ext cx="2834640" cy="1737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El problema mide si un sistema puede distinguir hostilidad, neutralidad y apoyo en lenguaje social real, donde el contexto completo cambia la interpretación.</a:t>
            </a:r>
            <a:endParaRPr lang="en-US" sz="94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56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A9A"/>
                </a:solidFill>
              </a:rPr>
              <a:t>SECCIÓN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57784"/>
            <a:ext cx="10789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EDA: distribución del dataset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A6675"/>
                </a:solidFill>
              </a:rPr>
              <a:t>El desbalance de clases condiciona la métrica y el modelamiento.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784848" y="1444752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876288" y="16093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8A9A"/>
                </a:solidFill>
              </a:rPr>
              <a:t>55,04%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94576" y="20208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NEU en train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8641080" y="1444752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8732520" y="16093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03A2E"/>
                </a:solidFill>
              </a:rPr>
              <a:t>5,54%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750808" y="20208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POS en dev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6784848" y="2615184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6876288" y="2779776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8C28"/>
                </a:solidFill>
              </a:rPr>
              <a:t>0,2540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94576" y="319125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F1 piso Zero Rule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6784848" y="388620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CE9D7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6967728" y="40507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Lectura técnica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67728" y="4398264"/>
            <a:ext cx="379476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La clase POS tiene poco soporte. Por eso accuracy no es suficiente: un modelo puede rendir aceptable en NEU y aun así fallar en POS.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8196D37-64C4-5F78-7E1C-B1D538CF5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20" y="1444752"/>
            <a:ext cx="6073149" cy="37485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56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A9A"/>
                </a:solidFill>
              </a:rPr>
              <a:t>SECCIÓN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57784"/>
            <a:ext cx="10789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EDA: longitudes, vocabulario y ruido lingüístico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A6675"/>
                </a:solidFill>
              </a:rPr>
              <a:t>El corpus combina textos cortos con outliers largos y variación dialectal.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0664" y="4660895"/>
            <a:ext cx="1719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813816" y="4799447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8A9A"/>
                </a:solidFill>
              </a:rPr>
              <a:t>31.030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50392" y="5248895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Vocabulario único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3040811" y="4660895"/>
            <a:ext cx="1719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3132251" y="4799447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</a:rPr>
              <a:t>453.671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150539" y="5219693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Tokens procesados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5074921" y="4653143"/>
            <a:ext cx="1719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221224" y="482048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8C28"/>
                </a:solidFill>
              </a:rPr>
              <a:t>1,41%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239512" y="5248895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OOV tokens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7756729" y="4324536"/>
            <a:ext cx="27889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8069293" y="4561933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Dialecto por país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22489" y="4884518"/>
            <a:ext cx="2423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Argentina: tenés/pibe · México: wey/neta · Chile: wea.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629383" y="5678424"/>
            <a:ext cx="10497312" cy="868680"/>
          </a:xfrm>
          <a:prstGeom prst="roundRect">
            <a:avLst>
              <a:gd name="adj" fmla="val 8421"/>
            </a:avLst>
          </a:prstGeom>
          <a:solidFill>
            <a:srgbClr val="FBE7E7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740664" y="5884682"/>
            <a:ext cx="10131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B1F3A"/>
                </a:solidFill>
              </a:rPr>
              <a:t>Ejemplo</a:t>
            </a:r>
            <a:r>
              <a:rPr lang="en-US" sz="1200" b="1" dirty="0">
                <a:solidFill>
                  <a:srgbClr val="0B1F3A"/>
                </a:solidFill>
              </a:rPr>
              <a:t> </a:t>
            </a:r>
            <a:r>
              <a:rPr lang="en-US" sz="1200" b="1" dirty="0" err="1">
                <a:solidFill>
                  <a:srgbClr val="0B1F3A"/>
                </a:solidFill>
              </a:rPr>
              <a:t>difícil</a:t>
            </a:r>
            <a:r>
              <a:rPr lang="en-US" sz="1200" b="1" dirty="0">
                <a:solidFill>
                  <a:srgbClr val="0B1F3A"/>
                </a:solidFill>
              </a:rPr>
              <a:t>: </a:t>
            </a:r>
            <a:r>
              <a:rPr lang="en-US" sz="1200" b="1" dirty="0" err="1">
                <a:solidFill>
                  <a:srgbClr val="0B1F3A"/>
                </a:solidFill>
              </a:rPr>
              <a:t>Dictadura</a:t>
            </a:r>
            <a:r>
              <a:rPr lang="en-US" sz="1200" b="1" dirty="0">
                <a:solidFill>
                  <a:srgbClr val="0B1F3A"/>
                </a:solidFill>
              </a:rPr>
              <a:t> de la cobra ´Gay´ (?)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0664" y="6236208"/>
            <a:ext cx="1013155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Un texto puede contener palabras sensibles como “trans” o “gay” sin ser necesariamente hostil. La etiqueta depende de intención, contexto e ironía, no solo de palabras clave.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23313382-4F00-4C59-94D4-688682B84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48" y="1334785"/>
            <a:ext cx="4626386" cy="2743440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BE5BF81E-4349-A9DF-353D-67FBA93CE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3" y="1334786"/>
            <a:ext cx="5065777" cy="274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56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A9A"/>
                </a:solidFill>
              </a:rPr>
              <a:t>SECCIÓN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57784"/>
            <a:ext cx="10789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Baseline tradicional: TF-IDF + Logistic Regression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A6675"/>
                </a:solidFill>
              </a:rPr>
              <a:t>Pipeline documentado: preprocesamiento → vectorización → modelo.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88920" y="2615184"/>
            <a:ext cx="41148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212080" y="2615184"/>
            <a:ext cx="41148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7635240" y="2615184"/>
            <a:ext cx="41148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713232" y="1965960"/>
            <a:ext cx="197510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96112" y="213055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Texto bruto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478024"/>
            <a:ext cx="16093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post content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136392" y="1965960"/>
            <a:ext cx="197510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319272" y="213055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TF-IDF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2478024"/>
            <a:ext cx="16093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1–2 n-gramas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50.000 features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sublinear_tf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559552" y="1965960"/>
            <a:ext cx="197510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742432" y="213055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42432" y="2478024"/>
            <a:ext cx="16093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class_weight=balanced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max_iter=1000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046720" y="1920240"/>
            <a:ext cx="197510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165592" y="213055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Predicción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65592" y="2478024"/>
            <a:ext cx="16093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NEG · NEU · POS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005840" y="4114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1097280" y="42793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8A9A"/>
                </a:solidFill>
              </a:rPr>
              <a:t>0,4072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115568" y="46908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F1 macro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926080" y="4114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3017520" y="42793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</a:rPr>
              <a:t>0,5239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035808" y="46908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Accuracy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846320" y="4114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937760" y="42793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03A2E"/>
                </a:solidFill>
              </a:rPr>
              <a:t>0,4344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956048" y="46908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F1 NEG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766560" y="4114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858000" y="42793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8A9A"/>
                </a:solidFill>
              </a:rPr>
              <a:t>0,6266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876288" y="46908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F1 NEU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8686800" y="4114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8778240" y="42793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8C28"/>
                </a:solidFill>
              </a:rPr>
              <a:t>0,1607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8796528" y="46908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F1 POS</a:t>
            </a:r>
            <a:endParaRPr lang="en-US" sz="83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56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A9A"/>
                </a:solidFill>
              </a:rPr>
              <a:t>SECCIÓN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57784"/>
            <a:ext cx="10789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Análisis de errores del baseline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A6675"/>
                </a:solidFill>
              </a:rPr>
              <a:t>Los errores muestran qué debe resolver el modelo profundo.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1481328"/>
            <a:ext cx="534924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481328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6537960" y="16459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03A2E"/>
                </a:solidFill>
              </a:rPr>
              <a:t>687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56248" y="205740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Errores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8119872" y="1481328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8211312" y="16459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</a:rPr>
              <a:t>1.443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29600" y="205740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Total dev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9802368" y="1481328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9893808" y="16459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8C28"/>
                </a:solidFill>
              </a:rPr>
              <a:t>47,6%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912096" y="205740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A6675"/>
                </a:solidFill>
              </a:rPr>
              <a:t>Tasa error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6446520" y="2743200"/>
            <a:ext cx="2240280" cy="1645920"/>
          </a:xfrm>
          <a:prstGeom prst="roundRect">
            <a:avLst>
              <a:gd name="adj" fmla="val 4444"/>
            </a:avLst>
          </a:prstGeom>
          <a:solidFill>
            <a:srgbClr val="FBE7E7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6629400" y="290779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Patrón 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29400" y="3255264"/>
            <a:ext cx="1874520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NEU→NEG: textos neutrales con vocabulario sensible o polémico son tratados como hostiles.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8979408" y="2743200"/>
            <a:ext cx="2240280" cy="1645920"/>
          </a:xfrm>
          <a:prstGeom prst="roundRect">
            <a:avLst>
              <a:gd name="adj" fmla="val 4444"/>
            </a:avLst>
          </a:prstGeom>
          <a:solidFill>
            <a:srgbClr val="FCE9D7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9162288" y="290779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Patrón 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62288" y="3255264"/>
            <a:ext cx="1874520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NEG→NEU: hostilidad indirecta, ironía o sarcasmo se pierde si no hay insulto explícito.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749808" y="5138928"/>
            <a:ext cx="10451592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836676" y="5212080"/>
            <a:ext cx="10085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Conclusión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4163" y="5431536"/>
            <a:ext cx="10194357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TF-IDF modela asociaciones léxicas locales; no entiende intención comunicativa, negación, ironía ni contexto discursivo.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46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A9A"/>
                </a:solidFill>
              </a:rPr>
              <a:t>SECCIÓN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57784"/>
            <a:ext cx="10789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Modelo profundo comparativo: BETO fine-tuned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A6675"/>
                </a:solidFill>
              </a:rPr>
              <a:t>Transformer encoder contextual en español: dccuchile/bert-base-spanish-wwm-cased.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Por qué BETO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837944"/>
            <a:ext cx="2651760" cy="155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Embeddings contextuales bidireccionales entrenados en español. Puede representar dependencias entre palabras y contexto completo.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160520" y="132588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343400" y="1490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Estrategia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1837944"/>
            <a:ext cx="2651760" cy="155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Fine-tuning supervisado sobre train y evaluación en dev. Tokenización con WordPiece y salida softmax para 3 clases.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7543800" y="132588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726680" y="1490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Recursos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26680" y="1837944"/>
            <a:ext cx="2651760" cy="155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Colab GPU. MAX_LENGTH_DECISION=262 para reducir truncamiento sin llegar al límite BERT de 512 tokens.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1920240" y="4069080"/>
            <a:ext cx="8138160" cy="384048"/>
          </a:xfrm>
          <a:prstGeom prst="rect">
            <a:avLst/>
          </a:prstGeom>
          <a:solidFill>
            <a:srgbClr val="0B1F3A"/>
          </a:solidFill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1965960" y="416966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94760" y="4169664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BETO cased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20240" y="4453128"/>
            <a:ext cx="81381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965960" y="45537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63544"/>
                </a:solidFill>
              </a:rPr>
              <a:t>Tarea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94760" y="4553712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63544"/>
                </a:solidFill>
              </a:rPr>
              <a:t>Clasificación multiclase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20240" y="4837176"/>
            <a:ext cx="81381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1965960" y="4937760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63544"/>
                </a:solidFill>
              </a:rPr>
              <a:t>Salida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94760" y="4937760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63544"/>
                </a:solidFill>
              </a:rPr>
              <a:t>NEG / NEU / POS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20240" y="5221224"/>
            <a:ext cx="81381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1965960" y="5321808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63544"/>
                </a:solidFill>
              </a:rPr>
              <a:t>Métrica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94760" y="5321808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63544"/>
                </a:solidFill>
              </a:rPr>
              <a:t>F1 macro</a:t>
            </a:r>
            <a:endParaRPr lang="en-US" sz="8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56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A9A"/>
                </a:solidFill>
              </a:rPr>
              <a:t>SECCIÓN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57784"/>
            <a:ext cx="10789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Justificación técnica: MAX_LENGTH_DECISION = 262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A6675"/>
                </a:solidFill>
              </a:rPr>
              <a:t>La decisión viene del percentil 95 de longitudes, no de un valor arbitrario.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1481328"/>
            <a:ext cx="493776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1481328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BE7E7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6263640" y="16459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Por qué no 128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63640" y="1993392"/>
            <a:ext cx="4297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128 es más barato, pero recorta más textos largos y puede eliminar contexto clave al final de la publicación.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6080760" y="2816352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6263640" y="29809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Por qué 262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63640" y="3328416"/>
            <a:ext cx="4297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262 corresponde al P95 del EDA: conserva cerca del 95% de textos sin truncamiento fuerte.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6080760" y="4151376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CE9D7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6263640" y="431596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Por qué no 512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4663440"/>
            <a:ext cx="4297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512 maximiza cobertura, pero aumenta costo en Colab y no es necesario para la mayoría del corpus.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1005840" y="5074920"/>
            <a:ext cx="4572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</a:rPr>
              <a:t>Compromiso elegido: mayor cobertura semántica que 128, menor costo que 512.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A9A"/>
                </a:solidFill>
              </a:rPr>
              <a:t>SECCIÓN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57784"/>
            <a:ext cx="10789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Resultados comparativos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A6675"/>
                </a:solidFill>
              </a:rPr>
              <a:t>El modelo contextual mejora el baseline, pero el salto no elimina las debilidades del dataset.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0" y="160934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01000" y="1609344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F1 macro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961120" y="16093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Lectura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77240" y="5422392"/>
            <a:ext cx="10287000" cy="502920"/>
          </a:xfrm>
          <a:prstGeom prst="roundRect">
            <a:avLst>
              <a:gd name="adj" fmla="val 14545"/>
            </a:avLst>
          </a:prstGeom>
          <a:solidFill>
            <a:srgbClr val="EAF3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/>
          <p:nvPr/>
        </p:nvSpPr>
        <p:spPr>
          <a:xfrm>
            <a:off x="960120" y="5422392"/>
            <a:ext cx="992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B1F3A"/>
                </a:solidFill>
              </a:rPr>
              <a:t>Resultado</a:t>
            </a:r>
            <a:r>
              <a:rPr lang="en-US" sz="1200" b="1" dirty="0">
                <a:solidFill>
                  <a:srgbClr val="0B1F3A"/>
                </a:solidFill>
              </a:rPr>
              <a:t> </a:t>
            </a:r>
            <a:r>
              <a:rPr lang="en-US" sz="1200" b="1" dirty="0" err="1">
                <a:solidFill>
                  <a:srgbClr val="0B1F3A"/>
                </a:solidFill>
              </a:rPr>
              <a:t>honesto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28700" y="5430008"/>
            <a:ext cx="9921240" cy="76878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BETO mejora el F1 macro, pero POS sigue siendo la clase débil. Antes de producción conviene aumentar datos POS, revisar etiquetas ambiguas y aplicar validación externa.</a:t>
            </a:r>
            <a:endParaRPr lang="en-US" sz="94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C7BA41FE-D70C-F581-0BDE-627281DE3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64" y="1502801"/>
            <a:ext cx="6336792" cy="3486637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53125936-ABD6-2BAB-6438-553D955CB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612" y="1486122"/>
            <a:ext cx="5134692" cy="1667108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10717E23-2417-741C-BBF3-A25428AB1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562" y="4038888"/>
            <a:ext cx="2314898" cy="943107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C7403131-0791-D4E6-8ECF-589DC9F3D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551" y="4038888"/>
            <a:ext cx="2314898" cy="9907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56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A9A"/>
                </a:solidFill>
              </a:rPr>
              <a:t>SECCIÓN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57784"/>
            <a:ext cx="10789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Evaluación final y recomendación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A6675"/>
                </a:solidFill>
              </a:rPr>
              <a:t>Cuándo usar modelo simple vs modelo profundo.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3063240" cy="31546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60120" y="15361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Modelo simple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883664"/>
            <a:ext cx="2697480" cy="2514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Conviene si se prioriza rapidez, bajo costo, explicabilidad y baseline de producción inicial. Su rendimiento es competitivo para NEU y aceptable para NEG.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063240" cy="31546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26280" y="15361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Modelo profundo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1883664"/>
            <a:ext cx="2697480" cy="2514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Conviene si el objetivo es capturar contexto, ironía y ambigüedad. Es más costoso, pero logra el mejor F1 macro global.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7909560" y="1371600"/>
            <a:ext cx="3063240" cy="3154680"/>
          </a:xfrm>
          <a:prstGeom prst="roundRect">
            <a:avLst>
              <a:gd name="adj" fmla="val 2388"/>
            </a:avLst>
          </a:prstGeom>
          <a:solidFill>
            <a:srgbClr val="FCE9D7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092440" y="15361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Recomendación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2440" y="1883664"/>
            <a:ext cx="2697480" cy="2514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544"/>
                </a:solidFill>
              </a:rPr>
              <a:t>Usar BETO como candidato principal, pero no desplegar sin más datos POS, revisión de etiquetas y monitoreo de sesgos por país.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6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1101</Words>
  <Application>Microsoft Office PowerPoint</Application>
  <PresentationFormat>Panorámica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LAB 08 NLP — Clasificación de polaridad en HOMO-LAT25</dc:title>
  <dc:subject>LAB 08 NLP — HOMO-LAT25</dc:subject>
  <dc:creator>Felipe M. / Benjamín Z.</dc:creator>
  <cp:lastModifiedBy>BENJAMÍN ALONSO ZAMORANO SOTO</cp:lastModifiedBy>
  <cp:revision>4</cp:revision>
  <dcterms:created xsi:type="dcterms:W3CDTF">2026-05-27T05:42:51Z</dcterms:created>
  <dcterms:modified xsi:type="dcterms:W3CDTF">2026-05-27T06:27:01Z</dcterms:modified>
</cp:coreProperties>
</file>